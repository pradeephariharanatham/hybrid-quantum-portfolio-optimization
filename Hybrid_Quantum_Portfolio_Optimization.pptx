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Arial"/>
              </a:rPr>
              <a:t>Simulated Portfolio Return Distributions (10,000 paths)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Portfolio</c:v>
                </c:pt>
              </c:strCache>
            </c:strRef>
          </c:tx>
          <c:spPr>
            <a:solidFill>
              <a:srgbClr val="5B6B7C"/>
            </a:solidFill>
            <a:ln w="31750" cap="flat">
              <a:solidFill>
                <a:srgbClr val="5B6B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B7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7C"/>
              </a:solidFill>
              <a:ln w="9525" cap="flat">
                <a:solidFill>
                  <a:srgbClr val="5B6B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-5.0%</c:v>
                  </c:pt>
                  <c:pt idx="1">
                    <c:v>-4.8%</c:v>
                  </c:pt>
                  <c:pt idx="2">
                    <c:v>-4.5%</c:v>
                  </c:pt>
                  <c:pt idx="3">
                    <c:v>-4.3%</c:v>
                  </c:pt>
                  <c:pt idx="4">
                    <c:v>-4.0%</c:v>
                  </c:pt>
                  <c:pt idx="5">
                    <c:v>-3.8%</c:v>
                  </c:pt>
                  <c:pt idx="6">
                    <c:v>-3.5%</c:v>
                  </c:pt>
                  <c:pt idx="7">
                    <c:v>-3.3%</c:v>
                  </c:pt>
                  <c:pt idx="8">
                    <c:v>-3.0%</c:v>
                  </c:pt>
                  <c:pt idx="9">
                    <c:v>-2.8%</c:v>
                  </c:pt>
                  <c:pt idx="10">
                    <c:v>-2.5%</c:v>
                  </c:pt>
                  <c:pt idx="11">
                    <c:v>-2.3%</c:v>
                  </c:pt>
                  <c:pt idx="12">
                    <c:v>-2.0%</c:v>
                  </c:pt>
                  <c:pt idx="13">
                    <c:v>-1.8%</c:v>
                  </c:pt>
                  <c:pt idx="14">
                    <c:v>-1.5%</c:v>
                  </c:pt>
                  <c:pt idx="15">
                    <c:v>-1.3%</c:v>
                  </c:pt>
                  <c:pt idx="16">
                    <c:v>-1.0%</c:v>
                  </c:pt>
                  <c:pt idx="17">
                    <c:v>-0.8%</c:v>
                  </c:pt>
                  <c:pt idx="18">
                    <c:v>-0.5%</c:v>
                  </c:pt>
                  <c:pt idx="19">
                    <c:v>-0.3%</c:v>
                  </c:pt>
                  <c:pt idx="20">
                    <c:v>0.0%</c:v>
                  </c:pt>
                  <c:pt idx="21">
                    <c:v>0.3%</c:v>
                  </c:pt>
                  <c:pt idx="22">
                    <c:v>0.5%</c:v>
                  </c:pt>
                  <c:pt idx="23">
                    <c:v>0.8%</c:v>
                  </c:pt>
                  <c:pt idx="24">
                    <c:v>1.0%</c:v>
                  </c:pt>
                  <c:pt idx="25">
                    <c:v>1.2%</c:v>
                  </c:pt>
                  <c:pt idx="26">
                    <c:v>1.5%</c:v>
                  </c:pt>
                  <c:pt idx="27">
                    <c:v>1.8%</c:v>
                  </c:pt>
                  <c:pt idx="28">
                    <c:v>2.0%</c:v>
                  </c:pt>
                  <c:pt idx="29">
                    <c:v>2.3%</c:v>
                  </c:pt>
                  <c:pt idx="30">
                    <c:v>2.5%</c:v>
                  </c:pt>
                  <c:pt idx="31">
                    <c:v>2.7%</c:v>
                  </c:pt>
                  <c:pt idx="32">
                    <c:v>3.0%</c:v>
                  </c:pt>
                  <c:pt idx="33">
                    <c:v>3.3%</c:v>
                  </c:pt>
                  <c:pt idx="34">
                    <c:v>3.5%</c:v>
                  </c:pt>
                  <c:pt idx="35">
                    <c:v>3.7%</c:v>
                  </c:pt>
                  <c:pt idx="36">
                    <c:v>4.0%</c:v>
                  </c:pt>
                  <c:pt idx="37">
                    <c:v>4.3%</c:v>
                  </c:pt>
                  <c:pt idx="38">
                    <c:v>4.5%</c:v>
                  </c:pt>
                  <c:pt idx="39">
                    <c:v>4.8%</c:v>
                  </c:pt>
                  <c:pt idx="40">
                    <c:v>5.0%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0.00817448341033266</c:v>
                </c:pt>
                <c:pt idx="1">
                  <c:v>0.017840017074516948</c:v>
                </c:pt>
                <c:pt idx="2">
                  <c:v>0.037454264211103976</c:v>
                </c:pt>
                <c:pt idx="3">
                  <c:v>0.07564466937550077</c:v>
                </c:pt>
                <c:pt idx="4">
                  <c:v>0.1469692383274508</c:v>
                </c:pt>
                <c:pt idx="5">
                  <c:v>0.2746917480131206</c:v>
                </c:pt>
                <c:pt idx="6">
                  <c:v>0.49389637402663783</c:v>
                </c:pt>
                <c:pt idx="7">
                  <c:v>0.8542738602731366</c:v>
                </c:pt>
                <c:pt idx="8">
                  <c:v>1.4214430119558947</c:v>
                </c:pt>
                <c:pt idx="9">
                  <c:v>2.275269488976447</c:v>
                </c:pt>
                <c:pt idx="10">
                  <c:v>3.503541679998963</c:v>
                </c:pt>
                <c:pt idx="11">
                  <c:v>5.189825899729914</c:v>
                </c:pt>
                <c:pt idx="12">
                  <c:v>7.395530709920745</c:v>
                </c:pt>
                <c:pt idx="13">
                  <c:v>10.138108988508408</c:v>
                </c:pt>
                <c:pt idx="14">
                  <c:v>13.369514045746808</c:v>
                </c:pt>
                <c:pt idx="15">
                  <c:v>16.960761340034736</c:v>
                </c:pt>
                <c:pt idx="16">
                  <c:v>20.698845340001135</c:v>
                </c:pt>
                <c:pt idx="17">
                  <c:v>24.30065340038881</c:v>
                </c:pt>
                <c:pt idx="18">
                  <c:v>27.444848510564437</c:v>
                </c:pt>
                <c:pt idx="19">
                  <c:v>29.817743866999788</c:v>
                </c:pt>
                <c:pt idx="20">
                  <c:v>31.1644722619703</c:v>
                </c:pt>
                <c:pt idx="21">
                  <c:v>31.333999289332777</c:v>
                </c:pt>
                <c:pt idx="22">
                  <c:v>30.306999142459482</c:v>
                </c:pt>
                <c:pt idx="23">
                  <c:v>28.199479955804218</c:v>
                </c:pt>
                <c:pt idx="24">
                  <c:v>25.24121854510958</c:v>
                </c:pt>
                <c:pt idx="25">
                  <c:v>21.734546857114033</c:v>
                </c:pt>
                <c:pt idx="26">
                  <c:v>18.00370624207508</c:v>
                </c:pt>
                <c:pt idx="27">
                  <c:v>14.346445122880496</c:v>
                </c:pt>
                <c:pt idx="28">
                  <c:v>10.99759544767251</c:v>
                </c:pt>
                <c:pt idx="29">
                  <c:v>8.110025757061742</c:v>
                </c:pt>
                <c:pt idx="30">
                  <c:v>5.753310092485103</c:v>
                </c:pt>
                <c:pt idx="31">
                  <c:v>3.9263081929996497</c:v>
                </c:pt>
                <c:pt idx="32">
                  <c:v>2.5776387111781176</c:v>
                </c:pt>
                <c:pt idx="33">
                  <c:v>1.6279113820671178</c:v>
                </c:pt>
                <c:pt idx="34">
                  <c:v>0.9890324231029208</c:v>
                </c:pt>
                <c:pt idx="35">
                  <c:v>0.5780446071283434</c:v>
                </c:pt>
                <c:pt idx="36">
                  <c:v>0.3249999046694001</c:v>
                </c:pt>
                <c:pt idx="37">
                  <c:v>0.17578271524467642</c:v>
                </c:pt>
                <c:pt idx="38">
                  <c:v>0.09146188729380905</c:v>
                </c:pt>
                <c:pt idx="39">
                  <c:v>0.045779938404081955</c:v>
                </c:pt>
                <c:pt idx="40">
                  <c:v>0.022043538213303675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Portfolio</c:v>
                </c:pt>
              </c:strCache>
            </c:strRef>
          </c:tx>
          <c:spPr>
            <a:solidFill>
              <a:srgbClr val="0E8C6B"/>
            </a:solidFill>
            <a:ln w="31750" cap="flat">
              <a:solidFill>
                <a:srgbClr val="0E8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B7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C6B"/>
              </a:solidFill>
              <a:ln w="9525" cap="flat">
                <a:solidFill>
                  <a:srgbClr val="0E8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-5.0%</c:v>
                  </c:pt>
                  <c:pt idx="1">
                    <c:v>-4.8%</c:v>
                  </c:pt>
                  <c:pt idx="2">
                    <c:v>-4.5%</c:v>
                  </c:pt>
                  <c:pt idx="3">
                    <c:v>-4.3%</c:v>
                  </c:pt>
                  <c:pt idx="4">
                    <c:v>-4.0%</c:v>
                  </c:pt>
                  <c:pt idx="5">
                    <c:v>-3.8%</c:v>
                  </c:pt>
                  <c:pt idx="6">
                    <c:v>-3.5%</c:v>
                  </c:pt>
                  <c:pt idx="7">
                    <c:v>-3.3%</c:v>
                  </c:pt>
                  <c:pt idx="8">
                    <c:v>-3.0%</c:v>
                  </c:pt>
                  <c:pt idx="9">
                    <c:v>-2.8%</c:v>
                  </c:pt>
                  <c:pt idx="10">
                    <c:v>-2.5%</c:v>
                  </c:pt>
                  <c:pt idx="11">
                    <c:v>-2.3%</c:v>
                  </c:pt>
                  <c:pt idx="12">
                    <c:v>-2.0%</c:v>
                  </c:pt>
                  <c:pt idx="13">
                    <c:v>-1.8%</c:v>
                  </c:pt>
                  <c:pt idx="14">
                    <c:v>-1.5%</c:v>
                  </c:pt>
                  <c:pt idx="15">
                    <c:v>-1.3%</c:v>
                  </c:pt>
                  <c:pt idx="16">
                    <c:v>-1.0%</c:v>
                  </c:pt>
                  <c:pt idx="17">
                    <c:v>-0.8%</c:v>
                  </c:pt>
                  <c:pt idx="18">
                    <c:v>-0.5%</c:v>
                  </c:pt>
                  <c:pt idx="19">
                    <c:v>-0.3%</c:v>
                  </c:pt>
                  <c:pt idx="20">
                    <c:v>0.0%</c:v>
                  </c:pt>
                  <c:pt idx="21">
                    <c:v>0.3%</c:v>
                  </c:pt>
                  <c:pt idx="22">
                    <c:v>0.5%</c:v>
                  </c:pt>
                  <c:pt idx="23">
                    <c:v>0.8%</c:v>
                  </c:pt>
                  <c:pt idx="24">
                    <c:v>1.0%</c:v>
                  </c:pt>
                  <c:pt idx="25">
                    <c:v>1.2%</c:v>
                  </c:pt>
                  <c:pt idx="26">
                    <c:v>1.5%</c:v>
                  </c:pt>
                  <c:pt idx="27">
                    <c:v>1.8%</c:v>
                  </c:pt>
                  <c:pt idx="28">
                    <c:v>2.0%</c:v>
                  </c:pt>
                  <c:pt idx="29">
                    <c:v>2.3%</c:v>
                  </c:pt>
                  <c:pt idx="30">
                    <c:v>2.5%</c:v>
                  </c:pt>
                  <c:pt idx="31">
                    <c:v>2.7%</c:v>
                  </c:pt>
                  <c:pt idx="32">
                    <c:v>3.0%</c:v>
                  </c:pt>
                  <c:pt idx="33">
                    <c:v>3.3%</c:v>
                  </c:pt>
                  <c:pt idx="34">
                    <c:v>3.5%</c:v>
                  </c:pt>
                  <c:pt idx="35">
                    <c:v>3.7%</c:v>
                  </c:pt>
                  <c:pt idx="36">
                    <c:v>4.0%</c:v>
                  </c:pt>
                  <c:pt idx="37">
                    <c:v>4.3%</c:v>
                  </c:pt>
                  <c:pt idx="38">
                    <c:v>4.5%</c:v>
                  </c:pt>
                  <c:pt idx="39">
                    <c:v>4.8%</c:v>
                  </c:pt>
                  <c:pt idx="40">
                    <c:v>5.0%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3.2686993128757984e-7</c:v>
                </c:pt>
                <c:pt idx="1">
                  <c:v>0.000001939066572331598</c:v>
                </c:pt>
                <c:pt idx="2">
                  <c:v>0.000010527904161724394</c:v>
                </c:pt>
                <c:pt idx="3">
                  <c:v>0.0000523145605234865</c:v>
                </c:pt>
                <c:pt idx="4">
                  <c:v>0.00023792205108136793</c:v>
                </c:pt>
                <c:pt idx="5">
                  <c:v>0.0009903261896967233</c:v>
                </c:pt>
                <c:pt idx="6">
                  <c:v>0.0037727088328806026</c:v>
                </c:pt>
                <c:pt idx="7">
                  <c:v>0.013154058492112724</c:v>
                </c:pt>
                <c:pt idx="8">
                  <c:v>0.04197567647231486</c:v>
                </c:pt>
                <c:pt idx="9">
                  <c:v>0.12259340126039689</c:v>
                </c:pt>
                <c:pt idx="10">
                  <c:v>0.3276935854457437</c:v>
                </c:pt>
                <c:pt idx="11">
                  <c:v>0.8016785089559814</c:v>
                </c:pt>
                <c:pt idx="12">
                  <c:v>1.7949981192508153</c:v>
                </c:pt>
                <c:pt idx="13">
                  <c:v>3.678402166349061</c:v>
                </c:pt>
                <c:pt idx="14">
                  <c:v>6.898995741184834</c:v>
                </c:pt>
                <c:pt idx="15">
                  <c:v>11.842516522946264</c:v>
                </c:pt>
                <c:pt idx="16">
                  <c:v>18.605167194949022</c:v>
                </c:pt>
                <c:pt idx="17">
                  <c:v>26.75189864192471</c:v>
                </c:pt>
                <c:pt idx="18">
                  <c:v>35.205222932423226</c:v>
                </c:pt>
                <c:pt idx="19">
                  <c:v>42.402458969541065</c:v>
                </c:pt>
                <c:pt idx="20">
                  <c:v>46.741908585841166</c:v>
                </c:pt>
                <c:pt idx="21">
                  <c:v>47.15777393352582</c:v>
                </c:pt>
                <c:pt idx="22">
                  <c:v>43.54432933500028</c:v>
                </c:pt>
                <c:pt idx="23">
                  <c:v>36.79945366893646</c:v>
                </c:pt>
                <c:pt idx="24">
                  <c:v>28.463125753676497</c:v>
                </c:pt>
                <c:pt idx="25">
                  <c:v>20.149082141670128</c:v>
                </c:pt>
                <c:pt idx="26">
                  <c:v>13.054474627037397</c:v>
                </c:pt>
                <c:pt idx="27">
                  <c:v>7.740962880364673</c:v>
                </c:pt>
                <c:pt idx="28">
                  <c:v>4.201090398240714</c:v>
                </c:pt>
                <c:pt idx="29">
                  <c:v>2.086702439710536</c:v>
                </c:pt>
                <c:pt idx="30">
                  <c:v>0.9486160672064176</c:v>
                </c:pt>
                <c:pt idx="31">
                  <c:v>0.39468614751045855</c:v>
                </c:pt>
                <c:pt idx="32">
                  <c:v>0.1502950741835448</c:v>
                </c:pt>
                <c:pt idx="33">
                  <c:v>0.052380430753674094</c:v>
                </c:pt>
                <c:pt idx="34">
                  <c:v>0.01670801433908653</c:v>
                </c:pt>
                <c:pt idx="35">
                  <c:v>0.004877666111004878</c:v>
                </c:pt>
                <c:pt idx="36">
                  <c:v>0.0013032590602542091</c:v>
                </c:pt>
                <c:pt idx="37">
                  <c:v>0.0003186991407562633</c:v>
                </c:pt>
                <c:pt idx="38">
                  <c:v>0.00007132840088451885</c:v>
                </c:pt>
                <c:pt idx="39">
                  <c:v>0.000014610851880903774</c:v>
                </c:pt>
                <c:pt idx="40">
                  <c:v>0.0000027391766684440143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B7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Risk vs. Sharpe Ratio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Risk (σ)</c:v>
                  </c:pt>
                  <c:pt idx="1">
                    <c:v>Sharpe Ratio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0.0127</c:v>
                </c:pt>
                <c:pt idx="1">
                  <c:v>0.1284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0E8C6B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Risk (σ)</c:v>
                  </c:pt>
                  <c:pt idx="1">
                    <c:v>Sharpe Ratio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0.0084</c:v>
                </c:pt>
                <c:pt idx="1">
                  <c:v>0.1765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Arial"/>
              </a:rPr>
              <a:t>Hybrid Portfolio Allocation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6B"/>
              </a:solidFill>
              <a:effectLst/>
            </c:spPr>
          </c:dPt>
          <c:dPt>
            <c:idx val="1"/>
            <c:bubble3D val="0"/>
            <c:spPr>
              <a:solidFill>
                <a:srgbClr val="0B1F3A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FB8A8"/>
              </a:solidFill>
              <a:effectLst/>
            </c:spPr>
          </c:dPt>
          <c:dPt>
            <c:idx val="4"/>
            <c:bubble3D val="0"/>
            <c:spPr>
              <a:solidFill>
                <a:srgbClr val="A9B7C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Growth Equity</c:v>
                </c:pt>
                <c:pt idx="1">
                  <c:v>International Bonds</c:v>
                </c:pt>
                <c:pt idx="2">
                  <c:v>Value Equity</c:v>
                </c:pt>
                <c:pt idx="3">
                  <c:v>Government Bonds</c:v>
                </c:pt>
                <c:pt idx="4">
                  <c:v>Domestic Equity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34.25</c:v>
                </c:pt>
                <c:pt idx="2">
                  <c:v>15.75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Open with authority and set the stage — this is a rigorous, practitioner-grade fusion of quantum computing and institutional portfolio management.
KEY TALKING POINTS:
- Welcome the audience and name the dual research thrust: portfolio optimization and (in the companion track) staffing optimization.
- Frame the core tension up front: real institutional portfolios are combinatorial, constrained problems — not the clean continuous problems textbooks assume.
- Preview the promise: a disciplined hybrid quantum-classical pipeline, tested on real market data, with measurable risk-adjusted gains.
SUGGESTED VISUALS: Full-bleed navy background, concentric quantum-ring motif top-right suggesting superposition, gold accent line under title.
ANIMATION: Title fades in first, subtitle and credential bar rise in 0.3s after.
TRANSITION: Move from the big promise to the concrete pain point institutional investors face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Establish the real-world pain point: constrained, discrete portfolio construction is far harder than the continuous Markowitz ideal.
KEY TALKING POINTS:
- Ground the audience in Markowitz mean-variance theory in one sentence, then immediately show where it breaks.
- Walk through the four constraint families — cardinality, liquidity, transaction cost, turnover/sector — as the source of discreteness.
- Land the punchline: discrete inclusion/exclusion variables convert a smooth QP into a combinatorially hard MIQP.
SUGGESTED VISUALS: Left: icon list of four constraint types. Right: navy dashboard card with big-number callouts on problem scale.
ANIMATION: Icons animate in top-to-bottom as each constraint is named.
TRANSITION: If constraints make this hard, how well does the purely classical toolkit actually cope? Move to classical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precisely where the classical Markowitz framework breaks down once real constraints are added.
KEY TALKING POINTS:
- Present the Markowitz objective as elegant but incomplete — it optimizes continuous weights only.
- Name three concrete failure modes: no native discreteness, scalability wall, and constraint patchwork via heuristics.
- Land on the technical term audiences will recognize: MIQP, NP-hard in general, intractable at scale for exact classical solvers.
SUGGESTED VISUALS: Left: dark equation card with the classical objective. Right: three stacked limitation cards. Bottom: full-width MIQP callout.
ANIMATION: Equation card appears first, limitation cards cascade in from the right.
TRANSITION: This capability gap is exactly the research gap this work sets out to close — transition to Research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Crystallize the exact white space this research fills between classical finance and quantum computing.
KEY TALKING POINTS:
- Classical finance is trusted but structurally blind to discreteness.
- Quantum computing (QAOA) is a natural fit for binary decisions but bound by NISQ hardware limits today.
- The gap: nobody has combined both into a constraint-realistic, explainable, production-style pipeline — that is this paper's contribution.
SUGGESTED VISUALS: Three-column comparison with connecting + and → glyphs, culminating in a highlighted navy "missing layer" card.
ANIMATION: Columns build left to right, third column pulses gold to draw focus.
TRANSITION: With the gap defined, ask: why quantum computing specifically, and why 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Build the technical case for why quantum computing is a natural — not forced — fit for portfolio asset selection.
KEY TALKING POINTS:
- Draw the direct analogy: one qubit per asset, binary state maps to include/exclude.
- Explain superposition as parallel exploration of the combinatorial search space, not "trying everything at once" magic.
- Introduce QAOA and the QUBO/Ising connection as the concrete algorithmic bridge.
- Be candid about NISQ-era limits — this sets up why a hybrid approach, not pure quantum, is the responsible choice.
SUGGESTED VISUALS: Dark navy background, four equal-width cards with icon, bold headline, and supporting detail — last card in warm gold to signal "constraint".
ANIMATION: Cards reveal left to right in sequence with the fourth card flagged distinctly.
TRANSITION: Given real hardware limits, the natural next question is: why hybrid, not pure quantum?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Justify the hybrid architecture as a deliberate, pragmatic engineering decision — not a compromise.
KEY TALKING POINTS:
- Quantum (QAOA) takes ownership of the discrete, combinatorial asset-selection problem.
- Classical convex optimization takes ownership of the continuous weight-allocation problem.
- The "+" in the middle is the thesis of the whole paper: division of labor by computational suitability.
SUGGESTED VISUALS: Two mirrored panels (emerald for quantum, navy-tinted for classical) merging into a central plus symbol, with a closing navy strip stating the design principle.
ANIMATION: Left panel builds first, right panel second, center plus symbol pulses to join them.
TRANSITION: Now formalize this quantum side mathematically — the QUBO formulation.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Formalize asset selection as a QUBO problem — the mathematical bridge into QAOA.
KEY TALKING POINTS:
- Anchor the audience with the binary decision variable xᵢ before showing the full objective.
- Walk through all four terms in order: return reward, risk penalty, cardinality enforcement, liquidity/cost penalty.
- Emphasize that α, β, γ, δ are calibrated hyperparameters — getting this balance right is itself a research contribution.
SUGGESTED VISUALS: Dark navy equation banner at top, four matching term cards below each decoding one part of the objective.
ANIMATION: Equation banner appears first; term cards highlight in sync as each is discussed.
TRANSITION: This QUBO objective is exactly what QAOA is built to solve — walk through the algorithm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Walk the audience through the QAOA circuit mechanics step by step, in plain language.
KEY TALKING POINTS:
- Superposition = exploring all candidate subsets at once, not a magic shortcut.
- Cost operator encodes "how good is this combination" from the Ising-transformed QUBO.
- Mixing operator lets the search escape local structure and explore neighboring bitstrings.
- A classical optimizer (COBYLA/SPSA) closes the loop by tuning circuit parameters — this IS the "hybrid" in hybrid quantum-classical.
- Final measurement across repeated shots yields the lowest-objective bitstring as the selected asset subset.
SUGGESTED VISUALS: Five-step horizontal circuit-flow diagram with arrows, dark navy theme, closing with the parameterized state equation.
ANIMATION: Steps illuminate left to right in sequence, each icon circle pulsing on entry.
TRANSITION: With asset selection solved, the pipeline moves to how everything connects — the hybrid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Give the audience the complete end-to-end system map in one glance.
KEY TALKING POINTS:
- Five sequential stages: preprocessing, QUBO/QAOA selection, classical weighting, Monte Carlo stress testing, explainability.
- Only one stage — asset selection — actually touches quantum hardware; everything else is classical.
- Highlight the classical fallback: the architecture degrades gracefully to simulated annealing/greedy heuristics without changing downstream stages — this is a production-realistic design choice.
SUGGESTED VISUALS: Five-stage horizontal pipeline with gold connector arrows; the quantum stage tinted emerald to stand apart from the classical navy stages.
ANIMATION: Stages populate left to right; the quantum stage (stage 2) gets a distinct pulse/glow.
TRANSITION: Zoom into the operational detail of this pipeline next — the full portfolio optimization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Trace the complete operational workflow across two swimlanes to show exactly where quantum enters and exits.
KEY TALKING POINTS:
- Top lane is purely classical: ingest data, estimate returns/covariance, construct the QUBO matrix.
- Bottom lane starts quantum (QAOA solves the QUBO) then hands off to classical QP weighting, Monte Carlo, and explainability.
- Emphasize the single handoff point — QAOA output becomes the input asset subset for classical weighting.
SUGGESTED VISUALS: Two-lane swimlane diagram, gold connector node bridging classical preprocessing into the quantum stage, closing navy output bar.
ANIMATION: Top lane builds first, gold bridge node pulses, then bottom lane builds.
TRANSITION: Now zoom into the classical weighting math that runs after asset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the second half of the hybrid split: once assets are chosen, classical convex optimization takes over cleanly.
KEY TALKING POINTS:
- Restate the objective: minimize portfolio variance subject to full allocation and non-negativity (plus optional concentration caps).
- Note the Sharpe-ratio alternative objective as a practical variant used in industry.
- Stress the fairness of the experimental design: the classical benchmark uses the identical weighting solver, differing only in asset screening method — isolating the effect of QAOA selection.
SUGGESTED VISUALS: Left: dark equation card. Right: light card with four supporting rationale points on why this stage is computationally straightforward.
ANIMATION: Equation types on, rationale points fade in as a checklist.
TRANSITION: With both stages defined, the next question is: how robust is the resulting portfolio under stress? Monte Carlo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Explain how Monte Carlo stress testing complements point-estimate mean-variance analysis with a full risk distribution.
KEY TALKING POINTS:
- 10,000 independent simulated paths per portfolio, fixed random seed for reproducibility.
- Returns assumed normally distributed around each portfolio's expected return and volatility — an efficient but simplifying baseline.
- Value-at-Risk (5th percentile) quantifies expected downside loss at 95% confidence.
- Preview the punchline the results section will quantify: hybrid's narrower distribution reflects materially lower volatility.
SUGGESTED VISUALS: Native line chart overlaying two illustrative return distributions (classical vs hybrid), side info card on methodology, closing emerald insight strip.
ANIMATION: Chart draws in, then distribution curves trace left to right.
TRANSITION: Numbers alone are not enough for institutional trust — explainability is the next essential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Establish why explainability is treated as a first-class pipeline stage, not an afterthought.
KEY TALKING POINTS:
- Four rule-based criteria are checked per asset: above-median return, liquidity threshold, low cost, significant weight.
- Assets satisfying none are still explained — labeled as diversification components rather than left unexplained.
- Read the two example explanation strings verbatim to make the output tangible for the audience.
- Note current implementation is deterministic/rule-based, with SHAP-style attribution flagged as future work.
SUGGESTED VISUALS: Dark theme with a criteria checklist card on the left and two stacked sample-explanation quote cards on the right.
ANIMATION: Checklist items tick in one at a time; quote cards fade in after.
TRANSITION: With the full methodology covered, walk through exactly how it was tested — the experimental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Give the audience full methodological transparency on how the experiment was run.
KEY TALKING POINTS:
- Real market data — not synthetic — sourced via Yahoo Finance through the yfinance library.
- Five-asset-class universe spanning domestic and international, equity and fixed income.
- Returns blend ML predictions with historical data; risk uses a historical covariance matrix.
- Both hybrid and classical benchmark portfolios were tested under identical conditions to isolate the effect of QAOA-based selection.
SUGGESTED VISUALS: 2x3 grid of light cards, each with an icon and a concise methodological fact.
ANIMATION: Grid cells populate row by row.
TRANSITION: With the setup established, reveal how the two approaches actually performed — Performance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Present the headline quantitative results with full transparency, including the trade-off.
KEY TALKING POINTS:
- QAOA converged to objective value −49.3765, selecting five assets with zero constraint violations.
- Classical return (0.0016) edges out hybrid (0.0015) — be upfront about this, it builds credibility.
- Risk drops from 0.0127 to 0.0084 (~34% lower volatility) — the real story of this result.
- Sharpe ratio rises from 0.1284 to 0.1765 (+37%), alongside better liquidity and lower transaction costs.
SUGGESTED VISUALS: Left: six-row comparison table styled like Table 1 from the paper. Right: native grouped bar chart of risk vs. Sharpe ratio. Bottom: emerald insight strip.
ANIMATION: Table rows reveal top to bottom; bar chart columns grow in after.
TRANSITION: These numbers come from a specific portfolio — inspect exactly what the optimizer selected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Unpack what the optimizer actually chose and why, connecting back to the QUBO terms.
KEY TALKING POINTS:
- Growth Equity dominates at 40% due to its strong predicted return — but note it is not the ONLY holding.
- International Bonds (34.25%) contributes stability through low equity correlation.
- Value Equity (15.75%) adds return while keeping liquidity high.
- Government Bonds and Domestic Equity (5% each) round out diversification without materially raising risk.
- Key message: this is a diversified, multi-asset-class allocation — not a return-maximizing concentration play.
SUGGESTED VISUALS: Native pie chart on the left with brand palette; ranked allocation detail list with color-coded markers on the right.
ANIMATION: Pie chart draws in wedge by wedge from largest to smallest; detail rows fade in matching the wedge order.
TRANSITION: This diversified, risk-aware outcome is the concrete evidence behind the advantages claim — cover those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Consolidate the case for the hybrid approach into eight concrete, evidence-backed advantages.
KEY TALKING POINTS:
- Group them mentally into three buckets: structural (discreteness, scalability), performance (risk, Sharpe, liquidity, cost), and trust (explainability, zero violations).
- Every claim on this slide should trace back to a number already shown — this is a summary, not new data.
- Land on scalability last — the advantage that grows as real institutional universes get larger.
SUGGESTED VISUALS: Eight-card grid on a dark navy background, uniform icon-circle + headline + detail treatment for visual rhythm.
ANIMATION: Cards populate in a 4x2 grid, row by row.
TRANSITION: Having proven the value today, look ahead — what does the future scope of this research include?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Present limitations honestly, then immediately reframe each as a concrete future-work direction.
KEY TALKING POINTS:
- Larger datasets and out-of-sample backtesting to validate robustness across market regimes.
- Scaling to real quantum hardware as qubit counts and circuit depth improve beyond current NISQ constraints.
- Richer risk modeling beyond the normal-distribution assumption to capture fat tails.
- Extending explainability with SHAP-style feature attribution and counterfactual reasoning.
- Generalizing from single-period optimization to dynamic multi-period rebalancing.
SUGGESTED VISUALS: Five-panel numbered roadmap with alternating light tints and connecting arrows, left to right progression.
ANIMATION: Panels reveal in sequence 1 through 5, arrows draw between them.
TRANSITION: This roadmap sits on top of what has already been delivered — recap the concrete contributions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Recap the paper's five stated contributions clearly and confidently, in the exact order the paper claims them.
KEY TALKING POINTS:
- Contribution 1: QUBO formulation for constrained asset selection via QAOA.
- Contribution 2: the hybrid pipeline itself — quantum selection plus classical weighting.
- Contribution 3: Monte Carlo stress testing for downside risk / VaR.
- Contribution 4: the explainable AI Portfolio Co-Pilot.
- Contribution 5: a rigorous comparative evaluation isolating the effect of QAOA-based selection.
SUGGESTED VISUALS: Five numbered horizontal cards, consistent icon + badge + statement layout for a clean, scannable summary.
ANIMATION: Cards stack in top to bottom, numbered badges pop in first.
TRANSITION: With contributions restated, close with the broader significance — the powerful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Close with a memorable, honest, and forward-looking statement that reframes the whole talk.
KEY TALKING POINTS:
- Reiterate the core discipline: this is not a quantum-advantage claim — it is a practical, evidence-backed hybrid architecture.
- Restate the three headline numbers one final time: -34% risk, +37% Sharpe ratio, zero constraint violations.
- End on the unifying idea: quantum WITH classical, and both explainable — this is the message the audience should leave with.
- Invite questions and thank the judges/audience by name if appropriate for the WISER Global Quantum+AI x Vanguard challenge context.
SUGGESTED VISUALS: Dark navy bookend matching the title slide's quantum-ring motif, large gold stat callouts, closing italicized thesis statement in a navy card.
ANIMATION: Title and rule line settle first, three stat callouts count up in sequence, closing statement fades in last.
TRANSITION: End of presentation —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"/>
            <a:ext cx="2011680" cy="2011680"/>
          </a:xfrm>
          <a:prstGeom prst="ellipse">
            <a:avLst/>
          </a:prstGeom>
          <a:ln w="1397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91440"/>
            <a:ext cx="2926080" cy="2926080"/>
          </a:xfrm>
          <a:prstGeom prst="ellipse">
            <a:avLst/>
          </a:prstGeom>
          <a:ln w="13970">
            <a:solidFill>
              <a:srgbClr val="0E8C6B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548640"/>
            <a:ext cx="3840480" cy="3840480"/>
          </a:xfrm>
          <a:prstGeom prst="ellipse">
            <a:avLst/>
          </a:prstGeom>
          <a:ln w="13970">
            <a:solidFill>
              <a:srgbClr val="C9A227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1005840"/>
            <a:ext cx="4754880" cy="4754880"/>
          </a:xfrm>
          <a:prstGeom prst="ellipse">
            <a:avLst/>
          </a:prstGeom>
          <a:ln w="13970">
            <a:solidFill>
              <a:srgbClr val="0E8C6B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37776" y="31089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11603736" y="1316736"/>
            <a:ext cx="109728" cy="109728"/>
          </a:xfrm>
          <a:prstGeom prst="ellipse">
            <a:avLst/>
          </a:prstGeom>
          <a:solidFill>
            <a:srgbClr val="0E8C6B"/>
          </a:solidFill>
          <a:ln/>
        </p:spPr>
      </p:sp>
      <p:sp>
        <p:nvSpPr>
          <p:cNvPr id="8" name="Shape 6"/>
          <p:cNvSpPr/>
          <p:nvPr/>
        </p:nvSpPr>
        <p:spPr>
          <a:xfrm>
            <a:off x="9637776" y="232257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7671816" y="1316736"/>
            <a:ext cx="109728" cy="109728"/>
          </a:xfrm>
          <a:prstGeom prst="ellipse">
            <a:avLst/>
          </a:prstGeom>
          <a:solidFill>
            <a:srgbClr val="0E8C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2026  ×  VANGUARD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Quantum–Classical Framework for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Portfolio Optimization Under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Financial Constraints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8100">
            <a:solidFill>
              <a:srgbClr val="0E8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Portfolio Construction  &amp;  Call Center Staffing Optimization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Asset Selection  •  QUBO Formulation  •  Monte Carlo Risk Analysis  •  Explainable AI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440680"/>
            <a:ext cx="9692640" cy="82296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692140"/>
            <a:ext cx="72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Pradeep Hariharanatham</a:t>
            </a:r>
            <a:r>
              <a:rPr lang="en-US" sz="11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Independent Research Submission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7772400" cy="10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Portfolios Are Harder Than the Textbook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92104"/>
            <a:ext cx="603504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Markowitz mean–variance model optimizes return against variance — but institutional mandates layer on discrete, combinatorial constraints the classical model was never built to hold.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76656" y="3002104"/>
            <a:ext cx="566928" cy="566928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6" name="Image 0" descr="/home/claude/icons/grid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19" y="3138167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20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Limits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33038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exactly N assets from a candidate universe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" y="3660472"/>
            <a:ext cx="566928" cy="566928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0" name="Image 1" descr="/home/claude/icons/balance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19" y="379653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67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Requirements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71600" y="39622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 must clear a minimum tradability bar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6656" y="4318840"/>
            <a:ext cx="566928" cy="566928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4" name="Image 2" descr="/home/claude/icons/cash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19" y="445490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337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71600" y="46205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frictions must be minimized, not ignored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76656" y="4977208"/>
            <a:ext cx="566928" cy="566928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8" name="Image 3" descr="/home/claude/icons/flow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9" y="5113271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9954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&amp; Sector Limits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71600" y="527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and rebalancing rules bind the search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5749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discrete "include / exclude" decision above is a binary variable — turning a smooth optimization into a mixed-integer quadratic program (MIQP).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086600" y="146304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4523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5236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Reality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452360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869680" y="28163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binary decisions per asset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52360" y="3584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MIQP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8869680" y="3657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class — computationally hard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452360" y="442569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↑↑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8869680" y="4498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grows combinatorially with universe size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452360" y="5312664"/>
            <a:ext cx="3749040" cy="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52360" y="54955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candidate universe grows, classical solvers face a scalability wall precisely where institutional portfolios live.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Classical Optimization Falls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MARKOWITZ OBJECTIVE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  wᵀΣw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to:   Σwᵢ = 1  and  wᵢ ≥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asset weights   Σ = covariance matrix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for continuous allocation — but silent on which assets even qualify for the portfolio.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82496"/>
            <a:ext cx="457200" cy="4572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2" name="Image 0" descr="/home/claude/icons/warning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792224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1228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discreteness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1228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include/exclude decisions sit outside the convex QP formulation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2404872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532888"/>
            <a:ext cx="457200" cy="4572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7" name="Image 1" descr="/home/claude/icons/trending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64261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24780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wall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812280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search space explodes as the candidate universe grows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80760" y="3255264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2" descr="/home/claude/icons/lock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4930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3328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patchwork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812280" y="36027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&amp; liquidity limits require ad-hoc heuristics, not principled solving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114800"/>
            <a:ext cx="10972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Mixed-Integer Quadratic Program (MIQP)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constraints transform the clean Markowitz quadratic program into a mixed-integer quadratic program — a problem class that is NP-hard in general and becomes intractable for classical exact solvers as the asset universe scales into the hundreds or thousands.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finance and quantum computing have each matured independently — but few frameworks unite them into a single, explainable, production-realistic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354580"/>
            <a:ext cx="685800" cy="6858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balance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25191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Finance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Rigorous continuous optimization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279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Decades of institutional trust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native handling of discreteness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214884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354580"/>
            <a:ext cx="685800" cy="6858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4" name="Image 1" descr="/home/claude/icons/atom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1917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70916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binary / combinatorial fit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09160" y="4279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QAOA suited to QUBO problems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09160" y="480974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Constrained by NISQ-era hardware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0" y="214884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0B1F3A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01200" y="2354580"/>
            <a:ext cx="685800" cy="6858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1" name="Image 2" descr="/home/claude/icons/bulb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51917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5820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Layer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50392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disciplined hybrid pipeline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03920" y="4279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financial constraints, not toy cases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03920" y="480974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Explainability for institutional trust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096512" y="34975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7891272" y="34975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Quantum Computing?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selection is fundamentally a binary decision problem — exactly the structure quantum optimization algorithms are built to explore.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587752"/>
            <a:ext cx="731520" cy="73152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grid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905" y="2763317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Binary-Native 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is a qubit: 1 = selected, 0 = excluded — a direct hardware-level mapping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02152" y="23317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13294B"/>
          </a:solidFill>
          <a:ln/>
        </p:spPr>
      </p:sp>
      <p:sp>
        <p:nvSpPr>
          <p:cNvPr id="11" name="Shape 8"/>
          <p:cNvSpPr/>
          <p:nvPr/>
        </p:nvSpPr>
        <p:spPr>
          <a:xfrm>
            <a:off x="4439412" y="2587752"/>
            <a:ext cx="731520" cy="73152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2" name="Image 1" descr="/home/claude/icons/flow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276331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Combinatorial Search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30752" y="4297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explores exponentially many candidate subsets in parallel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64224" y="23317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13294B"/>
          </a:solidFill>
          <a:ln/>
        </p:spPr>
      </p:sp>
      <p:sp>
        <p:nvSpPr>
          <p:cNvPr id="16" name="Shape 12"/>
          <p:cNvSpPr/>
          <p:nvPr/>
        </p:nvSpPr>
        <p:spPr>
          <a:xfrm>
            <a:off x="7301484" y="2587752"/>
            <a:ext cx="731520" cy="73152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7" name="Image 2" descr="/home/claude/icons/circuit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49" y="2763317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 / Ising Fit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92824" y="4297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maps financial objectives directly onto a cost Hamiltonian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26296" y="23317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13294B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63556" y="2587752"/>
            <a:ext cx="731520" cy="731520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3" descr="/home/claude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121" y="2763317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9176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Present-Day Limits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54896" y="42976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hardware: restricted qubits, noise, and shallow circuit depth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FOUNDATIONS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Hybrid Quantum–Classical Approach?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problem by computational suitability: let quantum handle discrete selection, classical handle continuous allocation.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E6F4E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circuit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5310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(QAOA)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Asset Selection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14400" y="3246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Solves the QUBO-formulated selection problem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703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Explores combinatorial subsets via superposition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160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Outputs a feasible, constraint-satisfying subset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214884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2084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5" name="Image 1" descr="/home/claude/icons/balan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253105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(CONVEX OPT.)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4980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Weight Allocation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720840" y="3246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Solves mean–variance weighting on selected assets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720840" y="3703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Efficient, mature, well-understood solvers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720840" y="4160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Delivers the final capital allocation vector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577840" y="3429000"/>
            <a:ext cx="1033272" cy="103327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B1F3A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577840" y="3429000"/>
            <a:ext cx="10332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23" name="Shape 19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is deployed only where it is strongest — avoiding both NISQ hardware limits and classical scalability walls.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FOUNDATIONS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QUBO Formulation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asset becomes a binary variable xᵢ — 1 if selected, 0 if excluded. Four weighted terms encode the full investment objective.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OBJECTIVE FUNCTION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H(x) = −α Σ rᵢxᵢ + β Σ Σ σᵢⱼxᵢxⱼ + γ (Σxᵢ − K)²  +  δ Σ (1−ℓᵢ+cᵢ)xᵢ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0" y="3451860"/>
            <a:ext cx="594360" cy="59436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0" name="Image 0" descr="/home/claude/icons/trending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566" y="3594506"/>
            <a:ext cx="309067" cy="3090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Term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4453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−α Σ rᵢxᵢ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" y="48188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assets with higher expected return rᵢ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502152" y="3246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07992" y="3451860"/>
            <a:ext cx="594360" cy="59436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6" name="Image 1" descr="/home/claude/icons/flow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3594506"/>
            <a:ext cx="309067" cy="30906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9312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Term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39312" y="4453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Σσᵢⱼxᵢxⱼ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66744" y="48188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covariance — discourages correlated, concentrated picks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364224" y="3246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70064" y="3451860"/>
            <a:ext cx="594360" cy="59436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2" descr="/home/claude/icons/grid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710" y="3594506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01384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Term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01384" y="4453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γ(Σxᵢ−K)²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528816" y="48188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selection toward exactly K assets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9226296" y="3246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232136" y="3451860"/>
            <a:ext cx="594360" cy="59436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8" name="Image 3" descr="/home/claude/icons/balance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4782" y="3594506"/>
            <a:ext cx="309067" cy="30906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63456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/ Cost Term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363456" y="4453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δΣ(1−ℓᵢ+cᵢ)xᵢ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390888" y="48188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illiquid assets and high trading costs</a:t>
            </a:r>
            <a:endParaRPr lang="en-US" sz="98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QAOA-Based Asset Selection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QUBO objective is transformed into an Ising Hamiltonian, then solved by alternating quantum operators across variational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2880360"/>
          </a:xfrm>
          <a:prstGeom prst="roundRect">
            <a:avLst>
              <a:gd name="adj" fmla="val 3913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2505456"/>
            <a:ext cx="566928" cy="56692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grid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799" y="264151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" y="376732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gates prepare an equal superposition over all asset-selection combinations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60904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88920" y="2286000"/>
            <a:ext cx="2103120" cy="2880360"/>
          </a:xfrm>
          <a:prstGeom prst="roundRect">
            <a:avLst>
              <a:gd name="adj" fmla="val 3913"/>
            </a:avLst>
          </a:prstGeom>
          <a:solidFill>
            <a:srgbClr val="13294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57016" y="2505456"/>
            <a:ext cx="566928" cy="56692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4" name="Image 1" descr="/home/claude/icons/circuit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79" y="264151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9864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Operator U(C,γ)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916936" y="376732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Ising Hamiltonian derived from the QUBO objective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901184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29200" y="2286000"/>
            <a:ext cx="2103120" cy="2880360"/>
          </a:xfrm>
          <a:prstGeom prst="roundRect">
            <a:avLst>
              <a:gd name="adj" fmla="val 3913"/>
            </a:avLst>
          </a:prstGeom>
          <a:solidFill>
            <a:srgbClr val="13294B"/>
          </a:solidFill>
          <a:ln/>
        </p:spPr>
      </p:sp>
      <p:sp>
        <p:nvSpPr>
          <p:cNvPr id="20" name="Shape 16"/>
          <p:cNvSpPr/>
          <p:nvPr/>
        </p:nvSpPr>
        <p:spPr>
          <a:xfrm>
            <a:off x="5797296" y="2505456"/>
            <a:ext cx="566928" cy="56692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1" name="Image 2" descr="/home/claude/icons/flow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359" y="2641519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3892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 Operator U(B,β)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57216" y="376732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Pauli-X rotations explore neighboring candidate solutions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141464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269480" y="2286000"/>
            <a:ext cx="2103120" cy="2880360"/>
          </a:xfrm>
          <a:prstGeom prst="roundRect">
            <a:avLst>
              <a:gd name="adj" fmla="val 3913"/>
            </a:avLst>
          </a:prstGeom>
          <a:solidFill>
            <a:srgbClr val="13294B"/>
          </a:solidFill>
          <a:ln/>
        </p:spPr>
      </p:sp>
      <p:sp>
        <p:nvSpPr>
          <p:cNvPr id="27" name="Shape 22"/>
          <p:cNvSpPr/>
          <p:nvPr/>
        </p:nvSpPr>
        <p:spPr>
          <a:xfrm>
            <a:off x="8037576" y="2505456"/>
            <a:ext cx="566928" cy="566928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8" name="Image 3" descr="/home/claude/icons/barchar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639" y="2641519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7920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Optimizer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397496" y="376732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/ SPSA iteratively tunes (γ, β) to minimize expected cost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381744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509760" y="2286000"/>
            <a:ext cx="2103120" cy="2880360"/>
          </a:xfrm>
          <a:prstGeom prst="roundRect">
            <a:avLst>
              <a:gd name="adj" fmla="val 3913"/>
            </a:avLst>
          </a:prstGeom>
          <a:solidFill>
            <a:srgbClr val="13294B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77856" y="2505456"/>
            <a:ext cx="566928" cy="56692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5" name="Image 4" descr="/home/claude/icons/check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919" y="2641519"/>
            <a:ext cx="294803" cy="29480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0120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61948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37776" y="376732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circuit execution yields the lowest-objective bitstring = optimal subset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40080" y="54406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10334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914400" y="544068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|ψ(γ,β)⟩ = U(B,βₚ)U(C,γₚ) ... U(B,β₁)U(C,γ₁)|+⟩ⁿ    —    parameters re-optimized iteratively across p variational layers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Hybrid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two computational paradigms — each stage handed to the technique best suited to solve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25786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024" y="273661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78608" y="3383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0360" y="2286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6F4E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11296" y="25786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3" name="Image 1" descr="/home/claude/icons/grid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04" y="273661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 Asset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(QAOA)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7180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18888" y="3383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20640" y="2286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51576" y="25786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9" name="Image 2" descr="/home/claude/icons/balan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84" y="2736616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Portfolio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1208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059168" y="3383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360920" y="2286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91856" y="25786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5" name="Image 3" descr="/home/claude/icons/di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64" y="2736616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523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45236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299448" y="3383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601200" y="22860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232136" y="25786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1" name="Image 4" descr="/home/claude/icons/ey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0144" y="2736616"/>
            <a:ext cx="342351" cy="34235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926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69264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Stage 2 runs on quantum hardware or simulators. If unavailable, a classical fallback (simulated annealing / greedy heuristics) solves the identical QUBO objective — the downstream pipeline never changes.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Optimization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market data to an auditable investment recommendation — traced across the quantum and classical lanes.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LANE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2980" y="2628900"/>
            <a:ext cx="502920" cy="502920"/>
          </a:xfrm>
          <a:prstGeom prst="ellipse">
            <a:avLst/>
          </a:prstGeom>
          <a:solidFill>
            <a:srgbClr val="EDF1F7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8" name="Image 0" descr="/home/claude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681" y="27496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standardize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(yfinance)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3977640" y="32461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03420" y="2628900"/>
            <a:ext cx="502920" cy="502920"/>
          </a:xfrm>
          <a:prstGeom prst="ellipse">
            <a:avLst/>
          </a:prstGeom>
          <a:solidFill>
            <a:srgbClr val="EDF1F7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2" name="Image 1" descr="/home/claude/icons/tren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121" y="27496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returns (ML +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historical) &amp; covariance</a:t>
            </a:r>
            <a:endParaRPr lang="en-US" sz="1030" dirty="0"/>
          </a:p>
        </p:txBody>
      </p:sp>
      <p:sp>
        <p:nvSpPr>
          <p:cNvPr id="14" name="Text 10"/>
          <p:cNvSpPr/>
          <p:nvPr/>
        </p:nvSpPr>
        <p:spPr>
          <a:xfrm>
            <a:off x="7498080" y="32461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23860" y="2628900"/>
            <a:ext cx="502920" cy="502920"/>
          </a:xfrm>
          <a:prstGeom prst="ellipse">
            <a:avLst/>
          </a:prstGeom>
          <a:solidFill>
            <a:srgbClr val="EDF1F7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6" name="Image 2" descr="/home/claude/icons/gri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61" y="274960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QUBO matrix from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objectives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5824728" y="367588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4"/>
          <p:cNvSpPr/>
          <p:nvPr/>
        </p:nvSpPr>
        <p:spPr>
          <a:xfrm>
            <a:off x="5824728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6F4E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6868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→ CLASSICAL LANE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82980" y="48234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3" name="Image 3" descr="/home/claude/icons/circuit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1" y="494416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solves QUBO →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asset subset</a:t>
            </a:r>
            <a:endParaRPr lang="en-US" sz="1030" dirty="0"/>
          </a:p>
        </p:txBody>
      </p:sp>
      <p:sp>
        <p:nvSpPr>
          <p:cNvPr id="25" name="Text 19"/>
          <p:cNvSpPr/>
          <p:nvPr/>
        </p:nvSpPr>
        <p:spPr>
          <a:xfrm>
            <a:off x="3977640" y="5440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503420" y="48234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7" name="Image 4" descr="/home/claude/icons/balance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121" y="4944161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QP computes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weights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7498080" y="5440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23860" y="48234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1" name="Image 5" descr="/home/claude/icons/eye_emera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561" y="494416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stress test +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explanation</a:t>
            </a:r>
            <a:endParaRPr lang="en-US" sz="1030" dirty="0"/>
          </a:p>
        </p:txBody>
      </p:sp>
      <p:sp>
        <p:nvSpPr>
          <p:cNvPr id="33" name="Shape 25"/>
          <p:cNvSpPr/>
          <p:nvPr/>
        </p:nvSpPr>
        <p:spPr>
          <a:xfrm>
            <a:off x="640080" y="58978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34" name="Text 26"/>
          <p:cNvSpPr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interpretable, constraint-compliant portfolio recommendation ready for practitioner review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Portfolio Weight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asset subset fixed by QAOA, the remaining problem is a pure continuous convex program — efficiently solved by established QP solvers.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OPTIMIZATION OBJECTIVE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  wᵀΣw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wᵢ = 1      wᵢ ≥ 0      wᵢ ≤ wₘₐₓ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objective: maximize the Sharpe ratio, balancing expected return against volatility instead of minimizing variance alone.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benchmark portfolio follows this same solver — differing only in how candidate assets were screened (conventional vs. QAOA).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210312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STAGE IS "EASY"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69380" y="27660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5" name="Image 0" descr="/home/claude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081" y="288676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86600" y="2770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Discreteness already resolved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30449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combinatorial decision was solved upstream by QAOA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69380" y="338785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9" name="Image 1" descr="/home/claude/icons/balan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81" y="3508553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86600" y="3392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quadratic program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086600" y="366674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continuous variables remain — classical QP solvers excel here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69380" y="4009644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3" name="Image 2" descr="/home/claude/icons/spee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81" y="4130345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86600" y="40142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mature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086600" y="42885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numerical optimization tooling apply directly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69380" y="4631436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7" name="Image 3" descr="/home/claude/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4752137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4636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comparison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86600" y="49103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weighting method for hybrid &amp; classical benchmark → fair test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Risk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of return and variance hide downside risk. 10,000 simulated paths reveal the full distribution.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720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05740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64424" y="267919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9" name="Image 0" descr="/home/claude/icons/di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708" y="2806476"/>
            <a:ext cx="275783" cy="2757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13648" y="2697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13648" y="2980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simulation paths, fixed seed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7964424" y="345643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3" name="Image 1" descr="/home/claude/icons/warn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708" y="3583716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3648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(5%)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613648" y="3758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downside-loss estimate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7964424" y="423367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7" name="Image 2" descr="/home/claude/icons/trend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708" y="4360956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13648" y="4251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Assumption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613648" y="4535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baseline; does not model fat tails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E6F4E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portfolio's tighter, taller distribution reflects its ~34% lower volatility relative to the classical benchmark — a visibly narrower downside.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Portfolio Co-Pilot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outputs must be auditable. The Co-Pilot translates each selection decision into plain-language rationale.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PER ASSET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51560" y="2715768"/>
            <a:ext cx="365760" cy="36576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8" name="Image 0" descr="/home/claude/icons/check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2803550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724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Above-median predicted return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51560" y="3218688"/>
            <a:ext cx="365760" cy="36576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1" name="Image 1" descr="/home/claude/icons/check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" y="330647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High-liquidity threshold met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51560" y="3721608"/>
            <a:ext cx="365760" cy="36576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4" name="Image 2" descr="/home/claude/icons/check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" y="3809390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730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low transaction cost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051560" y="4224528"/>
            <a:ext cx="365760" cy="365760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7" name="Image 3" descr="/home/claude/icons/check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" y="4312310"/>
            <a:ext cx="190195" cy="1901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233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portfolio allocation weight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14400" y="47091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meeting none of the above are labeled diversification components — included to reduce overall portfolio risk.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6263640" y="21031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4" descr="/home/claude/icons/trending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5328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22860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"Selected due to strong predicted return, high market liquidity, and significant portfolio allocation."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36576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EDF1F7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6" name="Image 5" descr="/home/claude/icons/fl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08736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8040" y="3840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"Included primarily to improve portfolio diversification despite moderate expected return."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10334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portfolio-level summary: objective, market conditions, expected return, risk, liquidity, cost, and hybrid-vs-classical rationale.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portfolios — hybrid and classical — were evaluated on identical real market data for a fair, apples-to-apples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7" name="Image 0" descr="/home/claude/icons/database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4176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historical daily adjusted-close prices via Yahoo Finance (yfinance)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16552" y="2103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2860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2" name="Image 1" descr="/home/claude/icons/grid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24176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Universe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45152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equity, growth equity, value equity, government bonds, international bonds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93024" y="2103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2860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7" name="Image 2" descr="/home/claude/icons/trending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4176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61704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Estimation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21624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predictions blended with historical return series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776472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3959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3" descr="/home/claude/icons/flow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09102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941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68680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computed from historical returns to capture co-movement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416552" y="3776472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3959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7" name="Image 4" descr="/home/claude/icons/balance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106" y="4091026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3941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45152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removal, trading-date alignment, feature standardization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93024" y="3776472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75904" y="3959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2" name="Image 5" descr="/home/claude/icons/target_emera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8" y="4091026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61704" y="3941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21624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and classical benchmark evaluated on identical market conditions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hybrid vs. classical portfolio performance across six evaluation metrics.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96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72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Risk (σ)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48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24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Liquidity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00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Transaction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6240"/>
          <a:ext cx="6309360" cy="47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280160"/>
              </a:tblGrid>
              <a:tr h="476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Selected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0" descr=""/>
          <p:cNvGraphicFramePr/>
          <p:nvPr/>
        </p:nvGraphicFramePr>
        <p:xfrm>
          <a:off x="7178040" y="1920240"/>
          <a:ext cx="4343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3"/>
          <p:cNvSpPr/>
          <p:nvPr/>
        </p:nvSpPr>
        <p:spPr>
          <a:xfrm>
            <a:off x="640080" y="540224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E6F4E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4" name="Text 4"/>
          <p:cNvSpPr/>
          <p:nvPr/>
        </p:nvSpPr>
        <p:spPr>
          <a:xfrm>
            <a:off x="914400" y="5402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portfolio trades a marginal 6.3% return reduction for a 34% risk cut — delivering a 37% higher Sharpe ratio and better operational efficiency.</a:t>
            </a:r>
            <a:endParaRPr lang="en-US" sz="1250" dirty="0"/>
          </a:p>
        </p:txBody>
      </p:sp>
      <p:sp>
        <p:nvSpPr>
          <p:cNvPr id="15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Composition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QAOA-selected, classically-weighted hybrid portfolio — five assets spanning equity and fixed income.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2020824"/>
            <a:ext cx="146304" cy="548640"/>
          </a:xfrm>
          <a:prstGeom prst="rect">
            <a:avLst/>
          </a:prstGeom>
          <a:solidFill>
            <a:srgbClr val="0E8C6B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Equity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23544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40.0%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3640" y="22494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allocation — strongest predicted return with acceptable liquidity &amp; cost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770632"/>
            <a:ext cx="146304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Bonds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5440" y="2715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34.25%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63640" y="29992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— stability via low correlation with equities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520440"/>
            <a:ext cx="146304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Equity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235440" y="3465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15.75%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63640" y="37490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return while preserving high liquidity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4270248"/>
            <a:ext cx="146304" cy="548640"/>
          </a:xfrm>
          <a:prstGeom prst="rect">
            <a:avLst/>
          </a:prstGeom>
          <a:solidFill>
            <a:srgbClr val="8FB8A8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Bonds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235440" y="4215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263640" y="44988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allocation — diversification &amp; stability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89320" y="5020056"/>
            <a:ext cx="146304" cy="548640"/>
          </a:xfrm>
          <a:prstGeom prst="rect">
            <a:avLst/>
          </a:prstGeom>
          <a:solidFill>
            <a:srgbClr val="A9B7C6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965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Equity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2354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263640" y="524865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allocation — broadens diversification base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89320" y="580644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263640" y="5806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diversified rather than concentrated — balancing return, correlation, liquidity, and transaction-cost objectives encoded in the QUBO.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Over Classical Portfolio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819656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6" name="Image 0" descr="/home/claude/icons/flow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208" y="197766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Discreteness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317296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handles cardinality &amp; selection directly — no heuristic patchwork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438144" y="160020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10" name="Shape 7"/>
          <p:cNvSpPr/>
          <p:nvPr/>
        </p:nvSpPr>
        <p:spPr>
          <a:xfrm>
            <a:off x="4398264" y="1819656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1" name="Image 1" descr="/home/claude/icons/warning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272" y="197766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Portfolio Risk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02736" y="317296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 volatility reduction vs. the classical benchmark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236208" y="160020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96328" y="1819656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6" name="Image 2" descr="/home/claude/icons/trending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336" y="197766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Sharpe Ratio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317296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0.1765 vs. 0.1284 — materially better risk-adjusted return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034272" y="160020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20" name="Shape 15"/>
          <p:cNvSpPr/>
          <p:nvPr/>
        </p:nvSpPr>
        <p:spPr>
          <a:xfrm>
            <a:off x="9994392" y="1819656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1" name="Image 3" descr="/home/claude/icons/balance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400" y="197766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Liquidity Profile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98864" y="317296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liquidity improves from 0.9695 to 0.9725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640080" y="4187952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25" name="Shape 19"/>
          <p:cNvSpPr/>
          <p:nvPr/>
        </p:nvSpPr>
        <p:spPr>
          <a:xfrm>
            <a:off x="1600200" y="4407408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6" name="Image 4" descr="/home/claude/icons/cash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208" y="4565416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52395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Transaction Costs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04672" y="576072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falls from 0.0016 to 0.0013 (−19%)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3438144" y="4187952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30" name="Shape 23"/>
          <p:cNvSpPr/>
          <p:nvPr/>
        </p:nvSpPr>
        <p:spPr>
          <a:xfrm>
            <a:off x="4398264" y="4407408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1" name="Image 5" descr="/home/claude/icons/eye_emera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272" y="4565416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5304" y="52395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Explainability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602736" y="576072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human-readable rationale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6236208" y="4187952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35" name="Shape 27"/>
          <p:cNvSpPr/>
          <p:nvPr/>
        </p:nvSpPr>
        <p:spPr>
          <a:xfrm>
            <a:off x="7196328" y="4407408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6" name="Image 6" descr="/home/claude/icons/check_emera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336" y="4565416"/>
            <a:ext cx="342351" cy="34235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73368" y="52395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Constraint Violations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00800" y="576072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Cardinality, liquidity, cost, and allocation rules fully satisfied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9034272" y="4187952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13294B"/>
          </a:solidFill>
          <a:ln/>
        </p:spPr>
      </p:sp>
      <p:sp>
        <p:nvSpPr>
          <p:cNvPr id="40" name="Shape 31"/>
          <p:cNvSpPr/>
          <p:nvPr/>
        </p:nvSpPr>
        <p:spPr>
          <a:xfrm>
            <a:off x="9994392" y="4407408"/>
            <a:ext cx="658368" cy="658368"/>
          </a:xfrm>
          <a:prstGeom prst="ellipse">
            <a:avLst/>
          </a:prstGeom>
          <a:solidFill>
            <a:srgbClr val="10334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41" name="Image 7" descr="/home/claude/icons/grid_emera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2400" y="4565416"/>
            <a:ext cx="342351" cy="342351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71432" y="52395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 Complexity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98864" y="576072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search benefits grow as the asset universe expands</a:t>
            </a:r>
            <a:endParaRPr lang="en-US" sz="93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today define a clear, actionable research roadmap for tomorrow.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6F8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5024" y="2752344"/>
            <a:ext cx="621792" cy="6217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8" name="Image 0" descr="/home/claude/icons/database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254" y="2901574"/>
            <a:ext cx="323332" cy="323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Datasets &amp; Backtesting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4434840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current asset universe with rigorous out-of-sample testing across market regimes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2656332" y="38862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871216" y="210312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E6F4EF"/>
          </a:solidFill>
          <a:ln/>
        </p:spPr>
      </p:sp>
      <p:sp>
        <p:nvSpPr>
          <p:cNvPr id="13" name="Text 10"/>
          <p:cNvSpPr/>
          <p:nvPr/>
        </p:nvSpPr>
        <p:spPr>
          <a:xfrm>
            <a:off x="3008376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566160" y="2752344"/>
            <a:ext cx="621792" cy="6217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5" name="Image 1" descr="/home/claude/icons/circuit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390" y="2901574"/>
            <a:ext cx="323332" cy="3233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08376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Real Quantum Hardware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35808" y="4434840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simulation toward larger qubit counts and deeper circuits as NISQ devices mature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4887468" y="38862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102352" y="210312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6F8FA"/>
          </a:solidFill>
          <a:ln/>
        </p:spPr>
      </p:sp>
      <p:sp>
        <p:nvSpPr>
          <p:cNvPr id="20" name="Text 16"/>
          <p:cNvSpPr/>
          <p:nvPr/>
        </p:nvSpPr>
        <p:spPr>
          <a:xfrm>
            <a:off x="5239512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797296" y="2752344"/>
            <a:ext cx="621792" cy="6217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2" name="Image 2" descr="/home/claude/icons/trending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526" y="2901574"/>
            <a:ext cx="323332" cy="3233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9512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Risk Models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266944" y="4434840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the normal-distribution assumption to capture fat tails and regime shifts</a:t>
            </a:r>
            <a:endParaRPr lang="en-US" sz="930" dirty="0"/>
          </a:p>
        </p:txBody>
      </p:sp>
      <p:sp>
        <p:nvSpPr>
          <p:cNvPr id="25" name="Text 20"/>
          <p:cNvSpPr/>
          <p:nvPr/>
        </p:nvSpPr>
        <p:spPr>
          <a:xfrm>
            <a:off x="7118604" y="38862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7333488" y="210312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E6F4EF"/>
          </a:solidFill>
          <a:ln/>
        </p:spPr>
      </p:sp>
      <p:sp>
        <p:nvSpPr>
          <p:cNvPr id="27" name="Text 22"/>
          <p:cNvSpPr/>
          <p:nvPr/>
        </p:nvSpPr>
        <p:spPr>
          <a:xfrm>
            <a:off x="7470648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028432" y="2752344"/>
            <a:ext cx="621792" cy="6217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9" name="Image 3" descr="/home/claude/icons/eye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662" y="2901574"/>
            <a:ext cx="323332" cy="3233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70648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Explainability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498080" y="4434840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rule-based logic with SHAP values and counterfactual attribution methods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9349740" y="38862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9564624" y="210312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6F8FA"/>
          </a:solidFill>
          <a:ln/>
        </p:spPr>
      </p:sp>
      <p:sp>
        <p:nvSpPr>
          <p:cNvPr id="34" name="Text 28"/>
          <p:cNvSpPr/>
          <p:nvPr/>
        </p:nvSpPr>
        <p:spPr>
          <a:xfrm>
            <a:off x="9701784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0259568" y="2752344"/>
            <a:ext cx="621792" cy="6217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6" name="Image 4" descr="/home/claude/icons/flow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798" y="2901574"/>
            <a:ext cx="323332" cy="3233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01784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Multi-Period Rebalancing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729216" y="4434840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from single-period allocation to dynamic, rebalancing portfolio strategies</a:t>
            </a:r>
            <a:endParaRPr lang="en-US" sz="93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E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contributions bridging quantum optimization and institutional portfolio management.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942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68780" y="2226564"/>
            <a:ext cx="502920" cy="50292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9" name="Image 0" descr="/home/claude/icons/grid_emera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481" y="2347265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210312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QUBO-based formulation for constrained asset selection using QAOA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9900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1363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68780" y="3113532"/>
            <a:ext cx="502920" cy="50292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5" name="Image 1" descr="/home/claude/icons/flow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81" y="3234233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2990088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optimization pipeline combining quantum selection with classical weighting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387705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668780" y="4000500"/>
            <a:ext cx="502920" cy="50292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1" name="Image 2" descr="/home/claude/icons/dice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81" y="4121201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377440" y="3877056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Monte Carlo stress-testing framework for downside risk and Value-at-Risk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40080" y="47640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" y="491032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1668780" y="4887468"/>
            <a:ext cx="502920" cy="50292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7" name="Image 3" descr="/home/claude/icons/eye_emera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481" y="5008169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377440" y="4764024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AI Portfolio Co-Pilot interpreting optimization decisions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40080" y="565099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14400" y="57972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5"/>
          <p:cNvSpPr/>
          <p:nvPr/>
        </p:nvSpPr>
        <p:spPr>
          <a:xfrm>
            <a:off x="914400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668780" y="5774436"/>
            <a:ext cx="502920" cy="502920"/>
          </a:xfrm>
          <a:prstGeom prst="ellipse">
            <a:avLst/>
          </a:prstGeom>
          <a:solidFill>
            <a:srgbClr val="E6F4EF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3" name="Image 4" descr="/home/claude/icons/compare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481" y="5895137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377440" y="5650992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 of hybrid vs. classical portfolio construction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663440"/>
            <a:ext cx="1828800" cy="1828800"/>
          </a:xfrm>
          <a:prstGeom prst="ellipse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4251960"/>
            <a:ext cx="2651760" cy="2651760"/>
          </a:xfrm>
          <a:prstGeom prst="ellipse">
            <a:avLst/>
          </a:prstGeom>
          <a:ln w="12700">
            <a:solidFill>
              <a:srgbClr val="0E8C6B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840480"/>
            <a:ext cx="3474720" cy="3474720"/>
          </a:xfrm>
          <a:prstGeom prst="ellipse">
            <a:avLst/>
          </a:prstGeom>
          <a:ln w="12700">
            <a:solidFill>
              <a:srgbClr val="C9A22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Explainable Quantum Finance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1005840" cy="0"/>
          </a:xfrm>
          <a:prstGeom prst="line">
            <a:avLst/>
          </a:prstGeom>
          <a:noFill/>
          <a:ln w="38100">
            <a:solidFill>
              <a:srgbClr val="0E8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does not claim quantum advantage today. It proves something more durable: that quantum and classical methods, deployed where each is strongest, can already deliver measurably better, more transparent investment decisions — a practical pathway from NISQ-era hardware to institutional trust.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3977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54680" y="4572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3977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4572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VIOLATIONS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9875520" cy="1005840"/>
          </a:xfrm>
          <a:prstGeom prst="roundRect">
            <a:avLst>
              <a:gd name="adj" fmla="val 7273"/>
            </a:avLst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2578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institutional finance is not quantum instead of classical — it is quantum with classical, and both explained.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Quantum-Classical Framework for Explainable Portfolio Optimization</dc:title>
  <dc:subject>PptxGenJS Presentation</dc:subject>
  <dc:creator>Pradeep</dc:creator>
  <cp:lastModifiedBy>Pradeep</cp:lastModifiedBy>
  <cp:revision>1</cp:revision>
  <dcterms:created xsi:type="dcterms:W3CDTF">2026-08-03T06:20:36Z</dcterms:created>
  <dcterms:modified xsi:type="dcterms:W3CDTF">2026-08-03T06:20:36Z</dcterms:modified>
</cp:coreProperties>
</file>